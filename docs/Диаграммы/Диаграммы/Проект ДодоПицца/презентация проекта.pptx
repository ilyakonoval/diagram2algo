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DCF8D-4B6D-0617-FD84-D81A3B03A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FA6E66-2B19-CBB3-986B-2A2499FF9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292813-3660-738F-BC34-EB3C821A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97A908-0B09-E297-AA7D-F99EA601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9D8805-63C4-7023-1461-30A15520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75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DCA39-7CCD-9470-2BE5-B5D6E657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7F11D-520C-8E0F-4C66-16A0F1BC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4CCE3B-DF2D-1FA7-0860-37BD4282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DEEB41-A242-B46F-D29E-AFD90DC7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B6BABC-8F63-7901-97B7-9784EDE1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9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CC2C3-7D26-C4CB-F4DD-E9372F22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0F9B52-AEB3-7115-0FD4-1AF5DF0F3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F377E1-3173-A009-85B8-775DF39A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E9EC0D-0820-5387-8C20-2B0C79F1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FAA363-4E38-6EF5-26EF-108CD090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45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B8F92-5902-EB23-DD99-3B14D265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12F1A2-104A-A72E-E14C-FAFFDA303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0A4A84-25DB-B0D4-36EC-CE3915840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5F4273-19E0-DEE4-D53B-B5384CC7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47CCBD-781A-AC1B-B1A2-8A95FAF5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A72382-57C2-8032-A8E8-5B36DE1B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42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95970-DB02-C9C8-2E32-CB0B2B5D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A9465B-D04C-1D4B-AB38-3FFDD0D64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050C8B-8AAD-3C7B-E046-857AA8BB9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9904872-FBAF-D9D2-21C8-E9BC09635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4CF873-F536-13E2-8932-9C3ED34D5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C9E226-3DDA-5AB0-8DD7-34578F78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B719D90-9C43-83D9-65E1-838D1324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5CB6F8-7033-7314-40F6-E3ADD01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15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A2297-2443-1591-7F09-BF3CC6DE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F096CF-836F-C5FA-35B3-37F0B9E4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7CDF3D-0E80-B769-4192-C5F019291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2F0DAC-FD55-534A-E381-68972E0A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23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78EAAF-9F37-34B8-3397-8D6655A5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FB4556-05EE-F6D3-F109-B91CBFCA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E926A0-331A-D51D-83A1-FE04A8A2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42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38F3C-6F6E-588E-A669-F3658986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5206CB-7F3C-EAF4-A9C2-7A43041E4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202699-817A-1517-F375-A03D51828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9B4EC4-D55B-5838-D06A-2D170337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CD5BDA-A5B4-B90D-BE2D-4038366A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E39D4B-26D7-CFB4-CBB1-9CED9047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14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AB079-C16D-164B-0AB4-299F638A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05B249-CB18-5005-5E22-81A902383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0E9EF3-B23C-4B11-1152-5EE123984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025460-7F5E-DD89-5EFF-309145BA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E75D43-0EE0-ACD1-6076-D2B80CEA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012BE6-0AC9-F7D6-C39B-8488E218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0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59CA6-80ED-5A8E-6D60-A9B0651B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04AC96-77D6-59F0-537A-096D05970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C55C08-4833-B0FD-4DBC-F6206226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0C1FDB-E0B3-FEFD-8234-2BE5466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46121A-E669-BA67-19BA-E46635CF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10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AB4419-03B5-632A-97FB-973107A62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18F85C-AD42-F2B7-C269-2ACAC1FFB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004271-3D93-425C-4A72-4AC921C9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F5DCD3-74C2-723A-D641-FBCA5F67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B7E19C-E3FB-C2CA-8DA8-472E27EF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34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115E4-1772-0608-5662-1AD262CAD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80C09C-B86F-F54B-6FAD-12675CF6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F24E3E-FA71-FDCB-83BF-D37D81EDB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20E6B-B9FB-475E-9213-5FFA6F8971B8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1E12AC-53ED-E138-103E-C2F9EAC9E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C9E508-982B-8DF6-7272-8F15C59BD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6FD1B-5015-4D6F-B31F-5AD814BD3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9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3024A-F135-26DB-5EA7-7986349C7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ru-RU" sz="5000"/>
              <a:t>Разработка спецификации требований</a:t>
            </a:r>
            <a:br>
              <a:rPr lang="ru-RU" sz="5000"/>
            </a:br>
            <a:r>
              <a:rPr lang="ru-RU" sz="5000"/>
              <a:t>к системе онлайн-заказов </a:t>
            </a:r>
            <a:r>
              <a:rPr lang="en-US" sz="5000"/>
              <a:t>“</a:t>
            </a:r>
            <a:r>
              <a:rPr lang="ru-RU" sz="5000"/>
              <a:t>Додо Пицца</a:t>
            </a:r>
            <a:r>
              <a:rPr lang="en-US" sz="5000"/>
              <a:t>”</a:t>
            </a:r>
            <a:endParaRPr lang="ru-RU" sz="50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3D4666-DF75-B541-6568-913AAB39D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ru-RU" sz="1500"/>
              <a:t>Дисциплина: системный анализ и системное проектирование</a:t>
            </a:r>
          </a:p>
          <a:p>
            <a:pPr algn="l"/>
            <a:r>
              <a:rPr lang="ru-RU" sz="1500"/>
              <a:t>Подготовили: </a:t>
            </a:r>
            <a:r>
              <a:rPr lang="ru-RU" sz="1500" i="1"/>
              <a:t>Дубинин Артём, Карагодина Ксения </a:t>
            </a:r>
          </a:p>
          <a:p>
            <a:pPr algn="l"/>
            <a:r>
              <a:rPr lang="ru-RU" sz="1500" i="1"/>
              <a:t>Группа</a:t>
            </a:r>
            <a:r>
              <a:rPr lang="en-US" sz="1500" i="1"/>
              <a:t>: </a:t>
            </a:r>
            <a:r>
              <a:rPr lang="ru-RU" sz="1500"/>
              <a:t>1.1</a:t>
            </a:r>
          </a:p>
          <a:p>
            <a:pPr algn="l"/>
            <a:r>
              <a:rPr lang="ru-RU" sz="1500"/>
              <a:t>Преподаватель: Маркина Татьяна Анатольевна</a:t>
            </a:r>
          </a:p>
          <a:p>
            <a:pPr algn="l"/>
            <a:endParaRPr lang="ru-RU" sz="1500"/>
          </a:p>
        </p:txBody>
      </p:sp>
      <p:pic>
        <p:nvPicPr>
          <p:cNvPr id="5" name="Picture 4" descr="Пицца">
            <a:extLst>
              <a:ext uri="{FF2B5EF4-FFF2-40B4-BE49-F238E27FC236}">
                <a16:creationId xmlns:a16="http://schemas.microsoft.com/office/drawing/2014/main" id="{EC5BF012-5AB9-BB71-B551-A4AD47247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77" r="3239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9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B2077-4F76-79AB-1227-BB6594F6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 dirty="0"/>
              <a:t>Проблема и предлагаемое решение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48D247-3889-0B3B-E7EC-6ADDF5B6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176574"/>
          </a:xfrm>
        </p:spPr>
        <p:txBody>
          <a:bodyPr>
            <a:normAutofit/>
          </a:bodyPr>
          <a:lstStyle/>
          <a:p>
            <a:r>
              <a:rPr lang="ru-RU" sz="2400" dirty="0"/>
              <a:t>Онлайн-канал уже есть, но </a:t>
            </a:r>
            <a:r>
              <a:rPr lang="ru-RU" sz="2400" b="1" dirty="0"/>
              <a:t>есть куда улучшать</a:t>
            </a:r>
            <a:r>
              <a:rPr lang="ru-RU" sz="2400" dirty="0"/>
              <a:t>:</a:t>
            </a:r>
            <a:br>
              <a:rPr lang="ru-RU" sz="2400" dirty="0"/>
            </a:br>
            <a:r>
              <a:rPr lang="ru-RU" sz="2400" dirty="0"/>
              <a:t>– хочется больше онлайн-заказов;</a:t>
            </a:r>
            <a:br>
              <a:rPr lang="ru-RU" sz="2400" dirty="0"/>
            </a:br>
            <a:r>
              <a:rPr lang="ru-RU" sz="2400" dirty="0"/>
              <a:t>– доставка иногда занимает больше времени, чем планируется;</a:t>
            </a:r>
            <a:br>
              <a:rPr lang="ru-RU" sz="2400" dirty="0"/>
            </a:br>
            <a:r>
              <a:rPr lang="ru-RU" sz="2400" dirty="0"/>
              <a:t>– часть клиентов «отваливается» на шаге оплаты. </a:t>
            </a:r>
            <a:endParaRPr lang="en-US" sz="2400" dirty="0"/>
          </a:p>
          <a:p>
            <a:r>
              <a:rPr lang="ru-RU" sz="2400" dirty="0"/>
              <a:t>Бизнес-цели проекта:</a:t>
            </a:r>
            <a:br>
              <a:rPr lang="ru-RU" sz="2400" dirty="0"/>
            </a:br>
            <a:r>
              <a:rPr lang="ru-RU" sz="2400" dirty="0"/>
              <a:t>– +30% онлайн-заказов за 6 месяцев;</a:t>
            </a:r>
            <a:br>
              <a:rPr lang="ru-RU" sz="2400" dirty="0"/>
            </a:br>
            <a:r>
              <a:rPr lang="ru-RU" sz="2400" dirty="0"/>
              <a:t>– −15% среднего времени доставки;</a:t>
            </a:r>
            <a:br>
              <a:rPr lang="ru-RU" sz="2400" dirty="0"/>
            </a:br>
            <a:r>
              <a:rPr lang="ru-RU" sz="2400" dirty="0"/>
              <a:t>– конверсия «корзина </a:t>
            </a:r>
            <a:r>
              <a:rPr lang="en-US" sz="2400" dirty="0"/>
              <a:t>-</a:t>
            </a:r>
            <a:r>
              <a:rPr lang="ru-RU" sz="2400" dirty="0"/>
              <a:t> оплачено» ≥ 55%;</a:t>
            </a:r>
            <a:br>
              <a:rPr lang="ru-RU" sz="2400" dirty="0"/>
            </a:br>
            <a:r>
              <a:rPr lang="ru-RU" sz="2400" dirty="0"/>
              <a:t>– отказы онлайн-платежей ≤ 1,2%</a:t>
            </a:r>
            <a:endParaRPr lang="en-US" sz="2400" dirty="0"/>
          </a:p>
          <a:p>
            <a:r>
              <a:rPr lang="ru-RU" sz="2400" dirty="0"/>
              <a:t>Для этого нужна более понятная и надёжная платформа онлайн-заказов.</a:t>
            </a:r>
          </a:p>
        </p:txBody>
      </p:sp>
    </p:spTree>
    <p:extLst>
      <p:ext uri="{BB962C8B-B14F-4D97-AF65-F5344CB8AC3E}">
        <p14:creationId xmlns:p14="http://schemas.microsoft.com/office/powerpoint/2010/main" val="236162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160CE-C6D6-CD60-E6AC-5DDB9D46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C9DB9-510B-AD3B-AE6F-D758F01B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/>
              <a:t>Стейкхолдеры и бизнес-требования</a:t>
            </a:r>
            <a:endParaRPr lang="ru-RU" sz="5000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1201D2-460B-7DE4-792D-61E0316B6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ru-RU" sz="2200" b="1" dirty="0"/>
              <a:t>Владелец продукта / франшизы</a:t>
            </a:r>
            <a:r>
              <a:rPr lang="ru-RU" sz="2200" dirty="0"/>
              <a:t> — хочет роста выручки онлайн и прозрачных KPI по заказам и доставке.</a:t>
            </a:r>
            <a:endParaRPr lang="en-US" sz="2200" dirty="0"/>
          </a:p>
          <a:p>
            <a:r>
              <a:rPr lang="ru-RU" sz="2200" b="1" dirty="0"/>
              <a:t>Менеджер ресторана</a:t>
            </a:r>
            <a:r>
              <a:rPr lang="ru-RU" sz="2200" dirty="0"/>
              <a:t> — нужно видеть заказы, их статусы, нагрузку кухни и курьеров.</a:t>
            </a:r>
            <a:endParaRPr lang="en-US" sz="2200" dirty="0"/>
          </a:p>
          <a:p>
            <a:r>
              <a:rPr lang="ru-RU" sz="2200" b="1" dirty="0"/>
              <a:t>Клиент</a:t>
            </a:r>
            <a:r>
              <a:rPr lang="ru-RU" sz="2200" dirty="0"/>
              <a:t> — быстро оформить заказ и понимать, что с ним происходит.</a:t>
            </a:r>
            <a:endParaRPr lang="en-US" sz="2200" dirty="0"/>
          </a:p>
          <a:p>
            <a:r>
              <a:rPr lang="ru-RU" sz="2200" b="1" dirty="0"/>
              <a:t>Курьеры и кухня</a:t>
            </a:r>
            <a:r>
              <a:rPr lang="ru-RU" sz="2200" dirty="0"/>
              <a:t> — получать заказы автоматически, без ручных списков и звонков.</a:t>
            </a:r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r>
              <a:rPr lang="ru-RU" sz="2200" dirty="0"/>
              <a:t>Главное бизнес-требование (</a:t>
            </a:r>
            <a:r>
              <a:rPr lang="en-US" sz="2200" dirty="0"/>
              <a:t>SMART): </a:t>
            </a:r>
            <a:r>
              <a:rPr lang="ru-RU" sz="2200" dirty="0"/>
              <a:t>Увеличить количество онлайн-заказов на 30% в течение 6 месяцев после внедрения новой системы мобильного и веб-приложения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84934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9244E-280B-3291-5B4B-82D3974E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BF52E-2055-9A28-728D-3D0FDBE5F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ru-RU" sz="3000"/>
              <a:t>Ключевой процесс: оформить и получить заказ</a:t>
            </a:r>
            <a:r>
              <a:rPr lang="en-US" sz="3000"/>
              <a:t> (</a:t>
            </a:r>
            <a:r>
              <a:rPr lang="ru-RU" sz="3000"/>
              <a:t>доставка)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95A292-02E5-5308-49BE-C2786AE8BA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Клиент выбирает адрес доставки, формирует корзину и оплачивает.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Создаётся заказ, инициализируется оплата, заказ автоматически уходит в ресторан.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ru-RU" altLang="ru-RU" sz="2000" dirty="0">
                <a:latin typeface="Arial" panose="020B0604020202020204" pitchFamily="34" charset="0"/>
              </a:rPr>
              <a:t>По готовности заказ </a:t>
            </a:r>
            <a:r>
              <a:rPr lang="ru-RU" altLang="ru-RU" sz="2000" dirty="0" err="1">
                <a:latin typeface="Arial" panose="020B0604020202020204" pitchFamily="34" charset="0"/>
              </a:rPr>
              <a:t>автоназначается</a:t>
            </a:r>
            <a:r>
              <a:rPr lang="ru-RU" altLang="ru-RU" sz="2000" dirty="0">
                <a:latin typeface="Arial" panose="020B0604020202020204" pitchFamily="34" charset="0"/>
              </a:rPr>
              <a:t> курьеру.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ru-RU" altLang="ru-RU" sz="2000" dirty="0">
                <a:latin typeface="Arial" panose="020B0604020202020204" pitchFamily="34" charset="0"/>
              </a:rPr>
              <a:t>Курьер доставляет заказ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Статусы заказа обновляются на каждом этапе, клиент их видит.</a:t>
            </a:r>
          </a:p>
        </p:txBody>
      </p:sp>
      <p:pic>
        <p:nvPicPr>
          <p:cNvPr id="9" name="Рисунок 8" descr="Изображение выглядит как текст, диаграмма, снимок экран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2D5854-7373-F496-C79D-D9072A17E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462" y="243502"/>
            <a:ext cx="4928900" cy="6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5638C-37EE-973A-DAAB-E526A326D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6A0F931-E614-FF65-FFB1-FBAEDE406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8DC5A-9C1E-CFAF-A134-4C282E5E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ru-RU" sz="3000" dirty="0"/>
              <a:t>Ключевой процесс: оформить и получить заказ</a:t>
            </a:r>
            <a:r>
              <a:rPr lang="en-US" sz="3000" dirty="0"/>
              <a:t> (</a:t>
            </a:r>
            <a:r>
              <a:rPr lang="ru-RU" sz="3000" dirty="0"/>
              <a:t>самовывоз)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1FAF4FA-CE77-297D-0678-F269AEF09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AC589D8-B1B4-29FB-00E9-9B1D30BDD4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Клиент выбирает адрес ресторана, формирует корзину и оплачивает.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Создаётся заказ, инициализируется оплата, заказ автоматически уходит в ресторан.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ru-RU" altLang="ru-RU" sz="2000" dirty="0">
                <a:latin typeface="Arial" panose="020B0604020202020204" pitchFamily="34" charset="0"/>
              </a:rPr>
              <a:t>Клиент забирает заказ по готовности.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Статусы заказа обновляются на каждом этапе, клиент их видит.</a:t>
            </a:r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315D2A-1619-378D-33B7-42A235AFA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830" y="245533"/>
            <a:ext cx="5532164" cy="611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5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77EB0-4205-8741-2B5C-62CB3339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65FD3-C428-B49B-E12B-34BBB410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/>
              <a:t>Архитектура системы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Объект 4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4540D5-6674-3C0F-4659-A61EC53FC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3" y="3212452"/>
            <a:ext cx="5481509" cy="251775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2E3DF29-18F0-5492-022B-86D09F8678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9863" y="440204"/>
            <a:ext cx="69011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Клиентские приложения: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веб-приложение 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мобильное приложение 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(Java 21, Spring Boot) — основная бизнес-логика заказов, оплаты, статусов.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Хранение данных: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(заказы, меню, платежи) +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(кэш меню, очередей задач).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Внешние системы: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платёжный провайдер;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картографический сервис 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геокодирование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зоны доставки);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операционная программа ресторана;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сервис уведомлений (SMS/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065556-20ED-A01A-9D4E-E7361E787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065" y="2590583"/>
            <a:ext cx="4538428" cy="397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4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6C34C-76C7-A11D-F1CE-08BA9644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212B9-E552-4C18-5596-5FDCC6D20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ru-RU" sz="3000"/>
              <a:t>Функциональность и ключевые требования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F03112-EF71-C91D-D53F-1A63D35217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1728" y="207096"/>
            <a:ext cx="7290816" cy="3705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Клиент: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просмотреть меню;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оформить заказ (доставка / самовывоз);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оплатить онлайн или при получении;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отменить заказ;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отследить заказ по статусам.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Ресторан: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автоматически принять заказ и отправить на кухню;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выдать заказ при самовывозе;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– доставить заказ (курьеры, статусы маршрута).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ru-RU" altLang="ru-RU" sz="12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ru-RU" sz="1200" dirty="0">
                <a:latin typeface="Arial" panose="020B0604020202020204" pitchFamily="34" charset="0"/>
              </a:rPr>
              <a:t>Нефункциональные требования:</a:t>
            </a:r>
          </a:p>
          <a:p>
            <a:pPr marL="0" indent="0">
              <a:buNone/>
            </a:pPr>
            <a:r>
              <a:rPr lang="ru-RU" sz="1200" dirty="0">
                <a:latin typeface="Arial" panose="020B0604020202020204" pitchFamily="34" charset="0"/>
              </a:rPr>
              <a:t>-    Время ответа API: 95% запросов ≤ 1 сек, 99% ≤ 1,5 сек, доступность ≥ 99,9% в месяц.</a:t>
            </a:r>
          </a:p>
          <a:p>
            <a:pPr>
              <a:buFontTx/>
              <a:buChar char="-"/>
            </a:pPr>
            <a:r>
              <a:rPr lang="ru-RU" sz="1200" dirty="0">
                <a:latin typeface="Arial" panose="020B0604020202020204" pitchFamily="34" charset="0"/>
              </a:rPr>
              <a:t>Доля отказов онлайн-платежей ≤ 1,2%, лимит на </a:t>
            </a:r>
            <a:r>
              <a:rPr lang="ru-RU" sz="1200" dirty="0" err="1">
                <a:latin typeface="Arial" panose="020B0604020202020204" pitchFamily="34" charset="0"/>
              </a:rPr>
              <a:t>ретраи</a:t>
            </a:r>
            <a:r>
              <a:rPr lang="ru-RU" sz="1200" dirty="0">
                <a:latin typeface="Arial" panose="020B0604020202020204" pitchFamily="34" charset="0"/>
              </a:rPr>
              <a:t> и тайм-ауты.</a:t>
            </a:r>
          </a:p>
          <a:p>
            <a:pPr>
              <a:buFontTx/>
              <a:buChar char="-"/>
            </a:pPr>
            <a:r>
              <a:rPr lang="ru-RU" sz="1200" dirty="0">
                <a:latin typeface="Arial" panose="020B0604020202020204" pitchFamily="34" charset="0"/>
              </a:rPr>
              <a:t>Первый заказ — не более 3 минут от открытия интерфейса до подтверждения.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 descr="Изображение выглядит как диаграмма, текст, План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42202D-5BA0-7751-A074-07FC3769F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2" y="3912109"/>
            <a:ext cx="10917936" cy="248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22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1D9F3-D2CB-3878-70DD-A0E4D52E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83357B-5398-A272-5F3A-0423486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65FD7-A320-B6B4-A144-95DDA233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dirty="0"/>
              <a:t>Итоги проекта</a:t>
            </a:r>
            <a:endParaRPr lang="ru-RU" sz="50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5DAC085-7096-C0F9-9EC3-CED5D798B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AEB8E-AA28-FB35-8F8E-9FC250636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176574"/>
          </a:xfrm>
        </p:spPr>
        <p:txBody>
          <a:bodyPr>
            <a:normAutofit/>
          </a:bodyPr>
          <a:lstStyle/>
          <a:p>
            <a:r>
              <a:rPr lang="ru-RU" sz="2400" dirty="0"/>
              <a:t>Собрана полная спецификация требований: стейкхолдеры, бизнес-цели, функциональные и нефункциональные требования.</a:t>
            </a:r>
          </a:p>
          <a:p>
            <a:r>
              <a:rPr lang="ru-RU" sz="2400" dirty="0"/>
              <a:t>Спроектирована архитектура системы: BPMN-процессы, </a:t>
            </a:r>
            <a:r>
              <a:rPr lang="ru-RU" sz="2400" dirty="0" err="1"/>
              <a:t>Use</a:t>
            </a:r>
            <a:r>
              <a:rPr lang="ru-RU" sz="2400" dirty="0"/>
              <a:t> Case, C1–C3, классы, последовательности.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842139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560</Words>
  <Application>Microsoft Office PowerPoint</Application>
  <PresentationFormat>Широкоэкранный</PresentationFormat>
  <Paragraphs>44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Тема Office</vt:lpstr>
      <vt:lpstr>Разработка спецификации требований к системе онлайн-заказов “Додо Пицца”</vt:lpstr>
      <vt:lpstr>Проблема и предлагаемое решение</vt:lpstr>
      <vt:lpstr>Стейкхолдеры и бизнес-требования</vt:lpstr>
      <vt:lpstr>Ключевой процесс: оформить и получить заказ (доставка)</vt:lpstr>
      <vt:lpstr>Ключевой процесс: оформить и получить заказ (самовывоз)</vt:lpstr>
      <vt:lpstr>Архитектура системы</vt:lpstr>
      <vt:lpstr>Функциональность и ключевые требования</vt:lpstr>
      <vt:lpstr>Итоги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Дубинин Артём Сергеевич</dc:creator>
  <cp:lastModifiedBy>Дубинин Артём Сергеевич</cp:lastModifiedBy>
  <cp:revision>7</cp:revision>
  <dcterms:created xsi:type="dcterms:W3CDTF">2025-12-11T18:45:10Z</dcterms:created>
  <dcterms:modified xsi:type="dcterms:W3CDTF">2025-12-22T07:01:54Z</dcterms:modified>
</cp:coreProperties>
</file>